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
  </p:notesMasterIdLst>
  <p:sldIdLst>
    <p:sldId id="257" r:id="rId2"/>
  </p:sldIdLst>
  <p:sldSz cx="6858000" cy="9906000" type="A4"/>
  <p:notesSz cx="6858000" cy="9144000"/>
  <p:embeddedFontLst>
    <p:embeddedFont>
      <p:font typeface="Calibri" panose="020F0502020204030204" pitchFamily="34" charset="0"/>
      <p:regular r:id="rId4"/>
      <p:bold r:id="rId5"/>
      <p:italic r:id="rId6"/>
      <p:boldItalic r:id="rId7"/>
    </p:embeddedFont>
    <p:embeddedFont>
      <p:font typeface="Calibri Light" panose="020F0302020204030204" pitchFamily="34" charset="0"/>
      <p:regular r:id="rId8"/>
      <p:italic r:id="rId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a Hackl" initials="CH" lastIdx="2" clrIdx="0">
    <p:extLst>
      <p:ext uri="{19B8F6BF-5375-455C-9EA6-DF929625EA0E}">
        <p15:presenceInfo xmlns:p15="http://schemas.microsoft.com/office/powerpoint/2012/main" userId="S-1-5-21-3036683560-4069959373-169152929-256853" providerId="AD"/>
      </p:ext>
    </p:extLst>
  </p:cmAuthor>
  <p:cmAuthor id="2" name="Benjamin Slowig" initials="BS" lastIdx="3" clrIdx="1">
    <p:extLst>
      <p:ext uri="{19B8F6BF-5375-455C-9EA6-DF929625EA0E}">
        <p15:presenceInfo xmlns:p15="http://schemas.microsoft.com/office/powerpoint/2012/main" userId="8510e544ba90adf0" providerId="Windows Live"/>
      </p:ext>
    </p:extLst>
  </p:cmAuthor>
  <p:cmAuthor id="3" name="Tanja Hörner ( U Bremen Research Alliance)" initials="TH(UBRA" lastIdx="5" clrIdx="2">
    <p:extLst>
      <p:ext uri="{19B8F6BF-5375-455C-9EA6-DF929625EA0E}">
        <p15:presenceInfo xmlns:p15="http://schemas.microsoft.com/office/powerpoint/2012/main" userId="S-1-5-21-1101707701-840073150-1267710164-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DF1"/>
    <a:srgbClr val="DEEBF7"/>
    <a:srgbClr val="F7F7F7"/>
    <a:srgbClr val="F2F2F2"/>
    <a:srgbClr val="000000"/>
    <a:srgbClr val="F5F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3662" autoAdjust="0"/>
  </p:normalViewPr>
  <p:slideViewPr>
    <p:cSldViewPr snapToGrid="0">
      <p:cViewPr varScale="1">
        <p:scale>
          <a:sx n="105" d="100"/>
          <a:sy n="105" d="100"/>
        </p:scale>
        <p:origin x="408"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commentAuthors" Target="commentAuthor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FDDC8-BB9F-4B45-8845-F53DFAE87B2F}" type="datetimeFigureOut">
              <a:rPr lang="en-US" smtClean="0"/>
              <a:t>3/27/2024</a:t>
            </a:fld>
            <a:endParaRPr lang="en-US"/>
          </a:p>
        </p:txBody>
      </p:sp>
      <p:sp>
        <p:nvSpPr>
          <p:cNvPr id="4" name="Folienbildplatzhalt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75548F-0773-4AC2-8AF6-C472187D2B5F}" type="slidenum">
              <a:rPr lang="en-US" smtClean="0"/>
              <a:t>‹Nr.›</a:t>
            </a:fld>
            <a:endParaRPr lang="en-US"/>
          </a:p>
        </p:txBody>
      </p:sp>
    </p:spTree>
    <p:extLst>
      <p:ext uri="{BB962C8B-B14F-4D97-AF65-F5344CB8AC3E}">
        <p14:creationId xmlns:p14="http://schemas.microsoft.com/office/powerpoint/2010/main" val="3277887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7075548F-0773-4AC2-8AF6-C472187D2B5F}" type="slidenum">
              <a:rPr lang="en-US" smtClean="0"/>
              <a:t>1</a:t>
            </a:fld>
            <a:endParaRPr lang="en-US"/>
          </a:p>
        </p:txBody>
      </p:sp>
    </p:spTree>
    <p:extLst>
      <p:ext uri="{BB962C8B-B14F-4D97-AF65-F5344CB8AC3E}">
        <p14:creationId xmlns:p14="http://schemas.microsoft.com/office/powerpoint/2010/main" val="3352193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8646C700-94A9-4F67-BA52-8303FD81E326}"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192536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8646C700-94A9-4F67-BA52-8303FD81E326}"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886427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8646C700-94A9-4F67-BA52-8303FD81E326}"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2897548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8646C700-94A9-4F67-BA52-8303FD81E326}"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1531925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8646C700-94A9-4F67-BA52-8303FD81E326}" type="datetimeFigureOut">
              <a:rPr lang="en-US" smtClean="0"/>
              <a:t>3/27/2024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951158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8646C700-94A9-4F67-BA52-8303FD81E326}" type="datetimeFigureOut">
              <a:rPr lang="en-US" smtClean="0"/>
              <a:t>3/27/2024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2796605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46C700-94A9-4F67-BA52-8303FD81E326}" type="datetimeFigureOut">
              <a:rPr lang="en-US" smtClean="0"/>
              <a:t>3/27/2024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3879163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8646C700-94A9-4F67-BA52-8303FD81E326}"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1792909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8646C700-94A9-4F67-BA52-8303FD81E326}" type="datetimeFigureOut">
              <a:rPr lang="en-US" smtClean="0"/>
              <a:t>3/27/2024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2143253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8646C700-94A9-4F67-BA52-8303FD81E326}"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960377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8646C700-94A9-4F67-BA52-8303FD81E326}" type="datetimeFigureOut">
              <a:rPr lang="en-US" smtClean="0"/>
              <a:t>3/27/2024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256342-092E-42E4-9A13-BCCEB3E09964}" type="slidenum">
              <a:rPr lang="en-US" smtClean="0"/>
              <a:t>‹Nr.›</a:t>
            </a:fld>
            <a:endParaRPr lang="en-US"/>
          </a:p>
        </p:txBody>
      </p:sp>
    </p:spTree>
    <p:extLst>
      <p:ext uri="{BB962C8B-B14F-4D97-AF65-F5344CB8AC3E}">
        <p14:creationId xmlns:p14="http://schemas.microsoft.com/office/powerpoint/2010/main" val="156935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646C700-94A9-4F67-BA52-8303FD81E326}" type="datetimeFigureOut">
              <a:rPr lang="en-US" smtClean="0"/>
              <a:t>3/27/2024</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6256342-092E-42E4-9A13-BCCEB3E09964}" type="slidenum">
              <a:rPr lang="en-US" smtClean="0"/>
              <a:t>‹Nr.›</a:t>
            </a:fld>
            <a:endParaRPr lang="en-US"/>
          </a:p>
        </p:txBody>
      </p:sp>
    </p:spTree>
    <p:extLst>
      <p:ext uri="{BB962C8B-B14F-4D97-AF65-F5344CB8AC3E}">
        <p14:creationId xmlns:p14="http://schemas.microsoft.com/office/powerpoint/2010/main" val="13750488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5281/zenodo.6923344" TargetMode="External"/><Relationship Id="rId13" Type="http://schemas.openxmlformats.org/officeDocument/2006/relationships/hyperlink" Target="http://www.openeducation.at/" TargetMode="External"/><Relationship Id="rId18" Type="http://schemas.openxmlformats.org/officeDocument/2006/relationships/image" Target="../media/image4.png"/><Relationship Id="rId3" Type="http://schemas.openxmlformats.org/officeDocument/2006/relationships/hyperlink" Target="https://openplato.eu/" TargetMode="External"/><Relationship Id="rId7" Type="http://schemas.openxmlformats.org/officeDocument/2006/relationships/hyperlink" Target="http://www.oerhub.at/" TargetMode="External"/><Relationship Id="rId12" Type="http://schemas.openxmlformats.org/officeDocument/2006/relationships/hyperlink" Target="https://creativecommons.org/licenses/by/4.0/legalcode" TargetMode="External"/><Relationship Id="rId17" Type="http://schemas.openxmlformats.org/officeDocument/2006/relationships/image" Target="../media/image3.png"/><Relationship Id="rId2" Type="http://schemas.openxmlformats.org/officeDocument/2006/relationships/notesSlide" Target="../notesSlides/notesSlide1.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rs.cms.hu-berlin.de/uag_fdm/pages/home.php?login=true" TargetMode="External"/><Relationship Id="rId11" Type="http://schemas.openxmlformats.org/officeDocument/2006/relationships/image" Target="../media/image1.png"/><Relationship Id="rId5" Type="http://schemas.openxmlformats.org/officeDocument/2006/relationships/hyperlink" Target="https://liascript.github.io/" TargetMode="External"/><Relationship Id="rId15" Type="http://schemas.openxmlformats.org/officeDocument/2006/relationships/hyperlink" Target="https://doi.org/10.5281/zenodo.10730502" TargetMode="External"/><Relationship Id="rId10" Type="http://schemas.openxmlformats.org/officeDocument/2006/relationships/hyperlink" Target="https://zenodo.org/communities/dcc-rdm-training-materials/" TargetMode="External"/><Relationship Id="rId4" Type="http://schemas.openxmlformats.org/officeDocument/2006/relationships/hyperlink" Target="https://eosc-pillar.d4science.org/web/eoscpillartrainingandsupport" TargetMode="External"/><Relationship Id="rId9" Type="http://schemas.openxmlformats.org/officeDocument/2006/relationships/hyperlink" Target="https://www.orca.nrw/" TargetMode="External"/><Relationship Id="rId14" Type="http://schemas.openxmlformats.org/officeDocument/2006/relationships/hyperlink" Target="https://doi.org/10.5281/zenodo.70577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hteck 39">
            <a:extLst>
              <a:ext uri="{FF2B5EF4-FFF2-40B4-BE49-F238E27FC236}">
                <a16:creationId xmlns:a16="http://schemas.microsoft.com/office/drawing/2014/main" id="{EB3F0C6E-9009-4FAE-B27C-0A86EDD9FF11}"/>
              </a:ext>
            </a:extLst>
          </p:cNvPr>
          <p:cNvSpPr/>
          <p:nvPr/>
        </p:nvSpPr>
        <p:spPr>
          <a:xfrm>
            <a:off x="0" y="-23379"/>
            <a:ext cx="6857999" cy="786887"/>
          </a:xfrm>
          <a:prstGeom prst="rect">
            <a:avLst/>
          </a:prstGeom>
          <a:gradFill flip="none" rotWithShape="1">
            <a:gsLst>
              <a:gs pos="0">
                <a:schemeClr val="bg1"/>
              </a:gs>
              <a:gs pos="100000">
                <a:srgbClr val="C7DDF1"/>
              </a:gs>
              <a:gs pos="100000">
                <a:srgbClr val="C7DDF1"/>
              </a:gs>
              <a:gs pos="100000">
                <a:srgbClr val="C7DDF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uppieren 5">
            <a:extLst>
              <a:ext uri="{FF2B5EF4-FFF2-40B4-BE49-F238E27FC236}">
                <a16:creationId xmlns:a16="http://schemas.microsoft.com/office/drawing/2014/main" id="{673E5622-C882-41D5-8181-0BB55EC45668}"/>
              </a:ext>
            </a:extLst>
          </p:cNvPr>
          <p:cNvGrpSpPr/>
          <p:nvPr/>
        </p:nvGrpSpPr>
        <p:grpSpPr>
          <a:xfrm>
            <a:off x="139184" y="3762405"/>
            <a:ext cx="2826003" cy="2552740"/>
            <a:chOff x="139184" y="3762405"/>
            <a:chExt cx="2826003" cy="2385268"/>
          </a:xfrm>
        </p:grpSpPr>
        <p:sp>
          <p:nvSpPr>
            <p:cNvPr id="43" name="Rechteck 42">
              <a:extLst>
                <a:ext uri="{FF2B5EF4-FFF2-40B4-BE49-F238E27FC236}">
                  <a16:creationId xmlns:a16="http://schemas.microsoft.com/office/drawing/2014/main" id="{BA0061A3-3419-44CB-BDEF-9A32EB8B73F9}"/>
                </a:ext>
              </a:extLst>
            </p:cNvPr>
            <p:cNvSpPr/>
            <p:nvPr/>
          </p:nvSpPr>
          <p:spPr>
            <a:xfrm>
              <a:off x="323851" y="3779595"/>
              <a:ext cx="2633202" cy="220355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feld 35">
              <a:extLst>
                <a:ext uri="{FF2B5EF4-FFF2-40B4-BE49-F238E27FC236}">
                  <a16:creationId xmlns:a16="http://schemas.microsoft.com/office/drawing/2014/main" id="{AFAF1E58-D550-4C61-94BD-6A8DD179EAE6}"/>
                </a:ext>
              </a:extLst>
            </p:cNvPr>
            <p:cNvSpPr txBox="1"/>
            <p:nvPr/>
          </p:nvSpPr>
          <p:spPr>
            <a:xfrm>
              <a:off x="139184" y="3762405"/>
              <a:ext cx="2826003" cy="2385268"/>
            </a:xfrm>
            <a:prstGeom prst="rect">
              <a:avLst/>
            </a:prstGeom>
            <a:noFill/>
          </p:spPr>
          <p:txBody>
            <a:bodyPr wrap="square" rtlCol="0">
              <a:spAutoFit/>
            </a:bodyPr>
            <a:lstStyle/>
            <a:p>
              <a:pPr marL="177800">
                <a:spcAft>
                  <a:spcPts val="300"/>
                </a:spcAft>
              </a:pPr>
              <a:r>
                <a:rPr lang="en-US" sz="900" b="1" dirty="0"/>
                <a:t>Some OER </a:t>
              </a:r>
              <a:r>
                <a:rPr lang="en-US" sz="900" b="1" dirty="0" smtClean="0"/>
                <a:t>Platforms </a:t>
              </a:r>
              <a:r>
                <a:rPr lang="en-US" sz="900" b="1" dirty="0"/>
                <a:t>&amp; </a:t>
              </a:r>
              <a:r>
                <a:rPr lang="en-US" sz="900" b="1" dirty="0" smtClean="0"/>
                <a:t>Collections</a:t>
              </a:r>
              <a:r>
                <a:rPr lang="en-US" sz="900" b="1" dirty="0"/>
                <a:t>:</a:t>
              </a:r>
            </a:p>
            <a:p>
              <a:pPr marL="177800">
                <a:spcAft>
                  <a:spcPts val="300"/>
                </a:spcAft>
              </a:pPr>
              <a:r>
                <a:rPr lang="en-US" sz="800" dirty="0">
                  <a:hlinkClick r:id="rId3"/>
                </a:rPr>
                <a:t>E-learning courses on RDM and Open Science</a:t>
              </a:r>
              <a:r>
                <a:rPr lang="en-US" sz="800" dirty="0"/>
                <a:t> </a:t>
              </a:r>
              <a:r>
                <a:rPr lang="en-US" sz="800" i="1" dirty="0"/>
                <a:t>on the </a:t>
              </a:r>
              <a:r>
                <a:rPr lang="en-US" sz="800" i="1" dirty="0" err="1"/>
                <a:t>OpenAIRE</a:t>
              </a:r>
              <a:r>
                <a:rPr lang="en-US" sz="800" i="1" dirty="0"/>
                <a:t> Training Platform </a:t>
              </a:r>
              <a:r>
                <a:rPr lang="en-US" sz="800" i="1" dirty="0" err="1"/>
                <a:t>OpenPLATO</a:t>
              </a:r>
              <a:r>
                <a:rPr lang="en-US" sz="800" i="1" dirty="0"/>
                <a:t> (EN)</a:t>
              </a:r>
            </a:p>
            <a:p>
              <a:pPr marL="177800">
                <a:spcAft>
                  <a:spcPts val="300"/>
                </a:spcAft>
              </a:pPr>
              <a:r>
                <a:rPr lang="en-US" sz="800" dirty="0">
                  <a:hlinkClick r:id="rId4"/>
                </a:rPr>
                <a:t>EOSC-Pillar Training and Support Catalogue</a:t>
              </a:r>
              <a:r>
                <a:rPr lang="en-US" sz="800" dirty="0"/>
                <a:t>, </a:t>
              </a:r>
              <a:r>
                <a:rPr lang="en-US" sz="800" i="1" dirty="0"/>
                <a:t>Search engine for training and consulting materials on FDM</a:t>
              </a:r>
            </a:p>
            <a:p>
              <a:pPr marL="177800">
                <a:spcAft>
                  <a:spcPts val="300"/>
                </a:spcAft>
              </a:pPr>
              <a:r>
                <a:rPr lang="en-US" sz="800" dirty="0" err="1">
                  <a:hlinkClick r:id="rId5"/>
                </a:rPr>
                <a:t>Liascript</a:t>
              </a:r>
              <a:r>
                <a:rPr lang="en-US" sz="800" dirty="0"/>
                <a:t> </a:t>
              </a:r>
              <a:r>
                <a:rPr lang="en-US" sz="800" i="1" dirty="0" err="1"/>
                <a:t>Git</a:t>
              </a:r>
              <a:r>
                <a:rPr lang="en-US" sz="800" i="1" dirty="0"/>
                <a:t>-based database especially for coding courses</a:t>
              </a:r>
            </a:p>
            <a:p>
              <a:pPr marL="177800">
                <a:spcAft>
                  <a:spcPts val="300"/>
                </a:spcAft>
              </a:pPr>
              <a:r>
                <a:rPr lang="en-US" sz="800" dirty="0">
                  <a:hlinkClick r:id="rId6"/>
                </a:rPr>
                <a:t>Collection of materials for FDM training courses</a:t>
              </a:r>
              <a:r>
                <a:rPr lang="en-US" sz="800" dirty="0"/>
                <a:t> </a:t>
              </a:r>
              <a:r>
                <a:rPr lang="en-US" sz="800" i="1" dirty="0"/>
                <a:t>of the DINI/</a:t>
              </a:r>
              <a:r>
                <a:rPr lang="en-US" sz="800" i="1" dirty="0" err="1"/>
                <a:t>nestor</a:t>
              </a:r>
              <a:r>
                <a:rPr lang="en-US" sz="800" i="1" dirty="0"/>
                <a:t> UAG Trainings (DE)</a:t>
              </a:r>
            </a:p>
            <a:p>
              <a:pPr marL="177800">
                <a:spcAft>
                  <a:spcPts val="300"/>
                </a:spcAft>
              </a:pPr>
              <a:r>
                <a:rPr lang="en-US" sz="800" dirty="0" err="1">
                  <a:hlinkClick r:id="rId7"/>
                </a:rPr>
                <a:t>OERhub</a:t>
              </a:r>
              <a:r>
                <a:rPr lang="en-US" sz="800" dirty="0"/>
                <a:t>, </a:t>
              </a:r>
              <a:r>
                <a:rPr lang="en-US" sz="800" i="1" dirty="0"/>
                <a:t>Search engine for OER from the Austrian Higher Education Sector (EN, DE)</a:t>
              </a:r>
            </a:p>
            <a:p>
              <a:pPr marL="177800">
                <a:spcAft>
                  <a:spcPts val="300"/>
                </a:spcAft>
              </a:pPr>
              <a:r>
                <a:rPr lang="en-US" sz="800" dirty="0">
                  <a:hlinkClick r:id="rId8"/>
                </a:rPr>
                <a:t>Open educational resources FDM</a:t>
              </a:r>
              <a:r>
                <a:rPr lang="en-US" sz="800" dirty="0"/>
                <a:t> </a:t>
              </a:r>
              <a:r>
                <a:rPr lang="en-US" sz="800" i="1" dirty="0"/>
                <a:t>of the FAIR Data Austria project (EN, DE)</a:t>
              </a:r>
            </a:p>
            <a:p>
              <a:pPr marL="177800">
                <a:spcAft>
                  <a:spcPts val="300"/>
                </a:spcAft>
              </a:pPr>
              <a:r>
                <a:rPr lang="en-US" sz="800" dirty="0">
                  <a:hlinkClick r:id="rId9"/>
                </a:rPr>
                <a:t>Open Resources Campus NRW | </a:t>
              </a:r>
              <a:r>
                <a:rPr lang="en-US" sz="800" dirty="0" err="1">
                  <a:hlinkClick r:id="rId9"/>
                </a:rPr>
                <a:t>ORCA.nrw</a:t>
              </a:r>
              <a:r>
                <a:rPr lang="en-US" sz="800" dirty="0"/>
                <a:t>, </a:t>
              </a:r>
              <a:r>
                <a:rPr lang="en-US" sz="800" i="1" dirty="0"/>
                <a:t>Searchable pool of OER of the Digital University NRW</a:t>
              </a:r>
            </a:p>
            <a:p>
              <a:pPr marL="177800">
                <a:spcAft>
                  <a:spcPts val="300"/>
                </a:spcAft>
              </a:pPr>
              <a:r>
                <a:rPr lang="en-US" sz="800" dirty="0">
                  <a:hlinkClick r:id="rId10"/>
                </a:rPr>
                <a:t>Research Data Management (RDM) Open Training Materials</a:t>
              </a:r>
              <a:r>
                <a:rPr lang="en-US" sz="800" dirty="0"/>
                <a:t> </a:t>
              </a:r>
              <a:r>
                <a:rPr lang="en-US" sz="800" i="1" dirty="0"/>
                <a:t>on </a:t>
              </a:r>
              <a:r>
                <a:rPr lang="en-US" sz="800" i="1" dirty="0" err="1"/>
                <a:t>Zenodo</a:t>
              </a:r>
              <a:r>
                <a:rPr lang="en-US" sz="800" i="1" dirty="0"/>
                <a:t> (EN)</a:t>
              </a:r>
            </a:p>
          </p:txBody>
        </p:sp>
      </p:grpSp>
      <p:grpSp>
        <p:nvGrpSpPr>
          <p:cNvPr id="3" name="Gruppieren 2">
            <a:extLst>
              <a:ext uri="{FF2B5EF4-FFF2-40B4-BE49-F238E27FC236}">
                <a16:creationId xmlns:a16="http://schemas.microsoft.com/office/drawing/2014/main" id="{AC4C8FCC-BE64-4489-8CB8-959D25BF70D6}"/>
              </a:ext>
            </a:extLst>
          </p:cNvPr>
          <p:cNvGrpSpPr/>
          <p:nvPr/>
        </p:nvGrpSpPr>
        <p:grpSpPr>
          <a:xfrm>
            <a:off x="4246129" y="6225306"/>
            <a:ext cx="2302176" cy="1944123"/>
            <a:chOff x="4246129" y="6225306"/>
            <a:chExt cx="2302176" cy="1944123"/>
          </a:xfrm>
        </p:grpSpPr>
        <p:sp>
          <p:nvSpPr>
            <p:cNvPr id="56" name="Rechteck 55">
              <a:extLst>
                <a:ext uri="{FF2B5EF4-FFF2-40B4-BE49-F238E27FC236}">
                  <a16:creationId xmlns:a16="http://schemas.microsoft.com/office/drawing/2014/main" id="{9F2EFD51-6D7A-4639-B130-AFEB90B7A10E}"/>
                </a:ext>
              </a:extLst>
            </p:cNvPr>
            <p:cNvSpPr/>
            <p:nvPr/>
          </p:nvSpPr>
          <p:spPr>
            <a:xfrm>
              <a:off x="4268737" y="6225306"/>
              <a:ext cx="2279568" cy="1944123"/>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feld 32">
              <a:extLst>
                <a:ext uri="{FF2B5EF4-FFF2-40B4-BE49-F238E27FC236}">
                  <a16:creationId xmlns:a16="http://schemas.microsoft.com/office/drawing/2014/main" id="{66C1D954-9C52-49D6-95D4-3B49FF2B1791}"/>
                </a:ext>
              </a:extLst>
            </p:cNvPr>
            <p:cNvSpPr txBox="1"/>
            <p:nvPr/>
          </p:nvSpPr>
          <p:spPr>
            <a:xfrm>
              <a:off x="4246129" y="6254489"/>
              <a:ext cx="2302176" cy="1805623"/>
            </a:xfrm>
            <a:prstGeom prst="rect">
              <a:avLst/>
            </a:prstGeom>
            <a:noFill/>
          </p:spPr>
          <p:txBody>
            <a:bodyPr wrap="square" rtlCol="0">
              <a:spAutoFit/>
            </a:bodyPr>
            <a:lstStyle/>
            <a:p>
              <a:pPr marL="0" lvl="1" algn="just">
                <a:spcAft>
                  <a:spcPts val="400"/>
                </a:spcAft>
              </a:pPr>
              <a:r>
                <a:rPr lang="en-US" sz="900" b="1" dirty="0"/>
                <a:t>Example </a:t>
              </a:r>
              <a:r>
                <a:rPr lang="en-US" sz="900" b="1" dirty="0" smtClean="0"/>
                <a:t>Formulation </a:t>
              </a:r>
              <a:r>
                <a:rPr lang="en-US" sz="900" b="1" dirty="0"/>
                <a:t>for </a:t>
              </a:r>
              <a:r>
                <a:rPr lang="en-US" sz="900" b="1" dirty="0" smtClean="0"/>
                <a:t>Licensing</a:t>
              </a:r>
              <a:r>
                <a:rPr lang="en-US" sz="900" b="1" dirty="0"/>
                <a:t>:</a:t>
              </a:r>
            </a:p>
            <a:p>
              <a:pPr marL="0" lvl="1" algn="just">
                <a:spcAft>
                  <a:spcPts val="400"/>
                </a:spcAft>
              </a:pPr>
              <a:r>
                <a:rPr lang="en-US" sz="900" i="1" dirty="0"/>
                <a:t>"The images and other third-party material contained in this teaching material are also subject to the aforementioned Creative Commons License, unless otherwise stated in the image legend. If the material in question is not subject to the aforementioned Creative Commons license and the action in question is not permitted by law, the consent of the respective rights holder must be obtained for the above-mentioned further use of the material."</a:t>
              </a:r>
              <a:endParaRPr lang="en-US" dirty="0"/>
            </a:p>
          </p:txBody>
        </p:sp>
      </p:grpSp>
      <p:sp>
        <p:nvSpPr>
          <p:cNvPr id="5" name="Rechteck 4">
            <a:extLst>
              <a:ext uri="{FF2B5EF4-FFF2-40B4-BE49-F238E27FC236}">
                <a16:creationId xmlns:a16="http://schemas.microsoft.com/office/drawing/2014/main" id="{539013CB-0B6E-467B-B2B7-7F9F2B8B88DB}"/>
              </a:ext>
            </a:extLst>
          </p:cNvPr>
          <p:cNvSpPr/>
          <p:nvPr/>
        </p:nvSpPr>
        <p:spPr>
          <a:xfrm>
            <a:off x="0" y="9416338"/>
            <a:ext cx="6858000" cy="489661"/>
          </a:xfrm>
          <a:prstGeom prst="rect">
            <a:avLst/>
          </a:prstGeom>
          <a:solidFill>
            <a:srgbClr val="DEEB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aute 24">
            <a:extLst>
              <a:ext uri="{FF2B5EF4-FFF2-40B4-BE49-F238E27FC236}">
                <a16:creationId xmlns:a16="http://schemas.microsoft.com/office/drawing/2014/main" id="{F9D9D06C-546A-412C-A06F-AD0C333C0D66}"/>
              </a:ext>
            </a:extLst>
          </p:cNvPr>
          <p:cNvSpPr/>
          <p:nvPr/>
        </p:nvSpPr>
        <p:spPr>
          <a:xfrm>
            <a:off x="5826800" y="3211982"/>
            <a:ext cx="2062399" cy="2062399"/>
          </a:xfrm>
          <a:prstGeom prst="diamond">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a:extLst>
              <a:ext uri="{FF2B5EF4-FFF2-40B4-BE49-F238E27FC236}">
                <a16:creationId xmlns:a16="http://schemas.microsoft.com/office/drawing/2014/main" id="{279EB6C8-00D9-4F58-B504-8BB5E247D8B4}"/>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6080335" y="9562556"/>
            <a:ext cx="467971" cy="163732"/>
          </a:xfrm>
          <a:prstGeom prst="rect">
            <a:avLst/>
          </a:prstGeom>
        </p:spPr>
      </p:pic>
      <p:sp>
        <p:nvSpPr>
          <p:cNvPr id="17" name="Rechteck 16">
            <a:extLst>
              <a:ext uri="{FF2B5EF4-FFF2-40B4-BE49-F238E27FC236}">
                <a16:creationId xmlns:a16="http://schemas.microsoft.com/office/drawing/2014/main" id="{031DAAB1-37D5-4F83-A1D2-458CC41B6E10}"/>
              </a:ext>
            </a:extLst>
          </p:cNvPr>
          <p:cNvSpPr/>
          <p:nvPr/>
        </p:nvSpPr>
        <p:spPr>
          <a:xfrm>
            <a:off x="177284" y="157283"/>
            <a:ext cx="6458748" cy="738664"/>
          </a:xfrm>
          <a:prstGeom prst="rect">
            <a:avLst/>
          </a:prstGeom>
        </p:spPr>
        <p:txBody>
          <a:bodyPr wrap="square">
            <a:spAutoFit/>
          </a:bodyPr>
          <a:lstStyle/>
          <a:p>
            <a:pPr algn="ctr"/>
            <a:r>
              <a:rPr lang="en-US" sz="2800" b="1" dirty="0">
                <a:solidFill>
                  <a:schemeClr val="accent1">
                    <a:lumMod val="50000"/>
                  </a:schemeClr>
                </a:solidFill>
              </a:rPr>
              <a:t>Open Educational Resources (OER)</a:t>
            </a:r>
          </a:p>
          <a:p>
            <a:pPr algn="ctr"/>
            <a:r>
              <a:rPr lang="en-US" sz="1400" b="1" dirty="0">
                <a:solidFill>
                  <a:schemeClr val="accent1">
                    <a:lumMod val="50000"/>
                  </a:schemeClr>
                </a:solidFill>
              </a:rPr>
              <a:t>In the </a:t>
            </a:r>
            <a:r>
              <a:rPr lang="en-US" sz="1400" b="1" dirty="0" smtClean="0">
                <a:solidFill>
                  <a:schemeClr val="accent1">
                    <a:lumMod val="50000"/>
                  </a:schemeClr>
                </a:solidFill>
              </a:rPr>
              <a:t>Spirit </a:t>
            </a:r>
            <a:r>
              <a:rPr lang="en-US" sz="1400" b="1" dirty="0">
                <a:solidFill>
                  <a:schemeClr val="accent1">
                    <a:lumMod val="50000"/>
                  </a:schemeClr>
                </a:solidFill>
              </a:rPr>
              <a:t>of Open Science and a FAIR </a:t>
            </a:r>
            <a:r>
              <a:rPr lang="en-US" sz="1400" b="1" dirty="0" smtClean="0">
                <a:solidFill>
                  <a:schemeClr val="accent1">
                    <a:lumMod val="50000"/>
                  </a:schemeClr>
                </a:solidFill>
              </a:rPr>
              <a:t>Data </a:t>
            </a:r>
            <a:r>
              <a:rPr lang="en-US" sz="1400" b="1" dirty="0">
                <a:solidFill>
                  <a:schemeClr val="accent1">
                    <a:lumMod val="50000"/>
                  </a:schemeClr>
                </a:solidFill>
              </a:rPr>
              <a:t>C</a:t>
            </a:r>
            <a:r>
              <a:rPr lang="en-US" sz="1400" b="1" dirty="0" smtClean="0">
                <a:solidFill>
                  <a:schemeClr val="accent1">
                    <a:lumMod val="50000"/>
                  </a:schemeClr>
                </a:solidFill>
              </a:rPr>
              <a:t>ulture</a:t>
            </a:r>
            <a:r>
              <a:rPr lang="en-US" sz="1400" b="1" dirty="0">
                <a:solidFill>
                  <a:schemeClr val="accent1">
                    <a:lumMod val="50000"/>
                  </a:schemeClr>
                </a:solidFill>
              </a:rPr>
              <a:t>:</a:t>
            </a:r>
            <a:endParaRPr lang="en-US" sz="1400" dirty="0">
              <a:solidFill>
                <a:schemeClr val="accent1">
                  <a:lumMod val="50000"/>
                </a:schemeClr>
              </a:solidFill>
            </a:endParaRPr>
          </a:p>
        </p:txBody>
      </p:sp>
      <p:sp>
        <p:nvSpPr>
          <p:cNvPr id="21" name="Raute 20">
            <a:extLst>
              <a:ext uri="{FF2B5EF4-FFF2-40B4-BE49-F238E27FC236}">
                <a16:creationId xmlns:a16="http://schemas.microsoft.com/office/drawing/2014/main" id="{4AEA5834-3E5C-4E38-B9FC-AF32DA01BCE2}"/>
              </a:ext>
            </a:extLst>
          </p:cNvPr>
          <p:cNvSpPr/>
          <p:nvPr/>
        </p:nvSpPr>
        <p:spPr>
          <a:xfrm>
            <a:off x="-1031200" y="1001418"/>
            <a:ext cx="2062399" cy="2062399"/>
          </a:xfrm>
          <a:prstGeom prst="diamond">
            <a:avLst/>
          </a:prstGeom>
          <a:solidFill>
            <a:srgbClr val="DEEB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feld 21">
            <a:extLst>
              <a:ext uri="{FF2B5EF4-FFF2-40B4-BE49-F238E27FC236}">
                <a16:creationId xmlns:a16="http://schemas.microsoft.com/office/drawing/2014/main" id="{91445634-6B44-4349-B03A-3A985E218903}"/>
              </a:ext>
            </a:extLst>
          </p:cNvPr>
          <p:cNvSpPr txBox="1"/>
          <p:nvPr/>
        </p:nvSpPr>
        <p:spPr>
          <a:xfrm>
            <a:off x="177284" y="858487"/>
            <a:ext cx="6458748" cy="430887"/>
          </a:xfrm>
          <a:prstGeom prst="rect">
            <a:avLst/>
          </a:prstGeom>
          <a:noFill/>
        </p:spPr>
        <p:txBody>
          <a:bodyPr wrap="square" rtlCol="0">
            <a:spAutoFit/>
          </a:bodyPr>
          <a:lstStyle/>
          <a:p>
            <a:pPr algn="ctr"/>
            <a:r>
              <a:rPr lang="en-US" sz="1100" b="1" dirty="0">
                <a:solidFill>
                  <a:schemeClr val="accent1">
                    <a:lumMod val="50000"/>
                  </a:schemeClr>
                </a:solidFill>
              </a:rPr>
              <a:t>F</a:t>
            </a:r>
            <a:r>
              <a:rPr lang="en-US" sz="1100" b="1">
                <a:solidFill>
                  <a:schemeClr val="accent1">
                    <a:lumMod val="50000"/>
                  </a:schemeClr>
                </a:solidFill>
              </a:rPr>
              <a:t>ree </a:t>
            </a:r>
            <a:r>
              <a:rPr lang="en-US" sz="1100" b="1" dirty="0">
                <a:solidFill>
                  <a:schemeClr val="accent1">
                    <a:lumMod val="50000"/>
                  </a:schemeClr>
                </a:solidFill>
              </a:rPr>
              <a:t>access to and use of teaching materials strengthens </a:t>
            </a:r>
          </a:p>
          <a:p>
            <a:pPr algn="ctr"/>
            <a:r>
              <a:rPr lang="en-US" sz="1100" b="1" dirty="0">
                <a:solidFill>
                  <a:schemeClr val="accent1">
                    <a:lumMod val="50000"/>
                  </a:schemeClr>
                </a:solidFill>
              </a:rPr>
              <a:t>the training, perception, and awareness of important data skills.</a:t>
            </a:r>
            <a:endParaRPr lang="en-US" sz="1100" dirty="0">
              <a:solidFill>
                <a:schemeClr val="accent1">
                  <a:lumMod val="50000"/>
                </a:schemeClr>
              </a:solidFill>
            </a:endParaRPr>
          </a:p>
        </p:txBody>
      </p:sp>
      <p:sp>
        <p:nvSpPr>
          <p:cNvPr id="24" name="Textfeld 23">
            <a:extLst>
              <a:ext uri="{FF2B5EF4-FFF2-40B4-BE49-F238E27FC236}">
                <a16:creationId xmlns:a16="http://schemas.microsoft.com/office/drawing/2014/main" id="{FB81BD25-3596-4710-B0CA-CE24F8793925}"/>
              </a:ext>
            </a:extLst>
          </p:cNvPr>
          <p:cNvSpPr txBox="1"/>
          <p:nvPr/>
        </p:nvSpPr>
        <p:spPr>
          <a:xfrm>
            <a:off x="496688" y="1407479"/>
            <a:ext cx="5864624" cy="1061829"/>
          </a:xfrm>
          <a:prstGeom prst="rect">
            <a:avLst/>
          </a:prstGeom>
          <a:noFill/>
        </p:spPr>
        <p:txBody>
          <a:bodyPr wrap="square" rtlCol="0">
            <a:spAutoFit/>
          </a:bodyPr>
          <a:lstStyle/>
          <a:p>
            <a:pPr algn="just"/>
            <a:r>
              <a:rPr lang="en-US" sz="1050" dirty="0"/>
              <a:t>As </a:t>
            </a:r>
            <a:r>
              <a:rPr lang="en-US" sz="1050" dirty="0" smtClean="0"/>
              <a:t>a teacher, </a:t>
            </a:r>
            <a:r>
              <a:rPr lang="en-US" sz="1050" dirty="0"/>
              <a:t>it is practical and useful to </a:t>
            </a:r>
            <a:r>
              <a:rPr lang="en-US" sz="1050" b="1" dirty="0"/>
              <a:t>reuse previously published materials </a:t>
            </a:r>
            <a:r>
              <a:rPr lang="en-US" sz="1050" dirty="0"/>
              <a:t>or </a:t>
            </a:r>
            <a:r>
              <a:rPr lang="en-US" sz="1050" b="1" dirty="0"/>
              <a:t>use them as inspiration</a:t>
            </a:r>
            <a:r>
              <a:rPr lang="en-US" sz="1050" dirty="0"/>
              <a:t>. By making your teaching materials available to others, you </a:t>
            </a:r>
            <a:r>
              <a:rPr lang="en-US" sz="1050" b="1" dirty="0"/>
              <a:t>gain more visibility for your teaching performance and expertise across the scientific landscape</a:t>
            </a:r>
            <a:r>
              <a:rPr lang="en-US" sz="1050" dirty="0"/>
              <a:t>. Publication can also lead to </a:t>
            </a:r>
            <a:r>
              <a:rPr lang="en-US" sz="1050" b="1" dirty="0"/>
              <a:t>quality assurance and enhancement </a:t>
            </a:r>
            <a:r>
              <a:rPr lang="en-US" sz="1050" dirty="0"/>
              <a:t>of the materials and an </a:t>
            </a:r>
            <a:r>
              <a:rPr lang="en-US" sz="1050" b="1" dirty="0"/>
              <a:t>expansion of didactic possibilities</a:t>
            </a:r>
            <a:r>
              <a:rPr lang="en-US" sz="1050" dirty="0"/>
              <a:t> through continuous improvements and updates. </a:t>
            </a:r>
            <a:r>
              <a:rPr lang="en-US" sz="1050" b="1" dirty="0"/>
              <a:t>OER</a:t>
            </a:r>
            <a:r>
              <a:rPr lang="en-US" sz="1050" dirty="0"/>
              <a:t> are teaching, learning, and research resources that are published under an open license and allow free use, editing, and distribution.</a:t>
            </a:r>
            <a:endParaRPr lang="en-US" sz="1100" dirty="0"/>
          </a:p>
        </p:txBody>
      </p:sp>
      <p:sp>
        <p:nvSpPr>
          <p:cNvPr id="26" name="Raute 25">
            <a:extLst>
              <a:ext uri="{FF2B5EF4-FFF2-40B4-BE49-F238E27FC236}">
                <a16:creationId xmlns:a16="http://schemas.microsoft.com/office/drawing/2014/main" id="{44998501-6902-4341-9623-22120D9A8311}"/>
              </a:ext>
            </a:extLst>
          </p:cNvPr>
          <p:cNvSpPr/>
          <p:nvPr/>
        </p:nvSpPr>
        <p:spPr>
          <a:xfrm>
            <a:off x="-1031201" y="5719904"/>
            <a:ext cx="2062399" cy="2062399"/>
          </a:xfrm>
          <a:prstGeom prst="diamond">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feld 22">
            <a:extLst>
              <a:ext uri="{FF2B5EF4-FFF2-40B4-BE49-F238E27FC236}">
                <a16:creationId xmlns:a16="http://schemas.microsoft.com/office/drawing/2014/main" id="{5B59B714-3FED-47D1-AE10-5063BE482D6F}"/>
              </a:ext>
            </a:extLst>
          </p:cNvPr>
          <p:cNvSpPr txBox="1"/>
          <p:nvPr/>
        </p:nvSpPr>
        <p:spPr>
          <a:xfrm>
            <a:off x="370283" y="2782951"/>
            <a:ext cx="5700317" cy="415498"/>
          </a:xfrm>
          <a:prstGeom prst="rect">
            <a:avLst/>
          </a:prstGeom>
          <a:noFill/>
        </p:spPr>
        <p:txBody>
          <a:bodyPr wrap="square" rtlCol="0">
            <a:spAutoFit/>
          </a:bodyPr>
          <a:lstStyle/>
          <a:p>
            <a:pPr>
              <a:spcAft>
                <a:spcPts val="600"/>
              </a:spcAft>
            </a:pPr>
            <a:r>
              <a:rPr lang="en-US" sz="1050" dirty="0"/>
              <a:t>Before creating your </a:t>
            </a:r>
            <a:r>
              <a:rPr lang="en-US" sz="1050" b="1" dirty="0"/>
              <a:t>own teaching/learning resource</a:t>
            </a:r>
            <a:r>
              <a:rPr lang="en-US" sz="1050" dirty="0"/>
              <a:t>, you should ask yourself the following questions:</a:t>
            </a:r>
          </a:p>
        </p:txBody>
      </p:sp>
      <p:sp>
        <p:nvSpPr>
          <p:cNvPr id="27" name="Textfeld 26">
            <a:extLst>
              <a:ext uri="{FF2B5EF4-FFF2-40B4-BE49-F238E27FC236}">
                <a16:creationId xmlns:a16="http://schemas.microsoft.com/office/drawing/2014/main" id="{4CF66C60-DB0B-4360-B4C8-0A59D6C153FE}"/>
              </a:ext>
            </a:extLst>
          </p:cNvPr>
          <p:cNvSpPr txBox="1"/>
          <p:nvPr/>
        </p:nvSpPr>
        <p:spPr>
          <a:xfrm>
            <a:off x="3076429" y="3678459"/>
            <a:ext cx="3632747" cy="369332"/>
          </a:xfrm>
          <a:prstGeom prst="rect">
            <a:avLst/>
          </a:prstGeom>
          <a:noFill/>
        </p:spPr>
        <p:txBody>
          <a:bodyPr wrap="square" lIns="91440" tIns="45720" rIns="91440" bIns="45720" rtlCol="0" anchor="t">
            <a:spAutoFit/>
          </a:bodyPr>
          <a:lstStyle/>
          <a:p>
            <a:pPr>
              <a:spcAft>
                <a:spcPts val="600"/>
              </a:spcAft>
            </a:pPr>
            <a:r>
              <a:rPr lang="en-US" b="1" i="1">
                <a:solidFill>
                  <a:schemeClr val="accent1">
                    <a:lumMod val="50000"/>
                  </a:schemeClr>
                </a:solidFill>
              </a:rPr>
              <a:t>Use &amp; Adaptation of OER</a:t>
            </a:r>
            <a:endParaRPr lang="en-US" b="1">
              <a:solidFill>
                <a:schemeClr val="accent1">
                  <a:lumMod val="50000"/>
                </a:schemeClr>
              </a:solidFill>
            </a:endParaRPr>
          </a:p>
        </p:txBody>
      </p:sp>
      <p:sp>
        <p:nvSpPr>
          <p:cNvPr id="30" name="Textfeld 29">
            <a:extLst>
              <a:ext uri="{FF2B5EF4-FFF2-40B4-BE49-F238E27FC236}">
                <a16:creationId xmlns:a16="http://schemas.microsoft.com/office/drawing/2014/main" id="{C9466654-2AF9-4EF2-A105-40CE0B7E46E5}"/>
              </a:ext>
            </a:extLst>
          </p:cNvPr>
          <p:cNvSpPr txBox="1"/>
          <p:nvPr/>
        </p:nvSpPr>
        <p:spPr>
          <a:xfrm>
            <a:off x="399251" y="2502430"/>
            <a:ext cx="6458749" cy="369332"/>
          </a:xfrm>
          <a:prstGeom prst="rect">
            <a:avLst/>
          </a:prstGeom>
          <a:noFill/>
        </p:spPr>
        <p:txBody>
          <a:bodyPr wrap="square" lIns="91440" tIns="45720" rIns="91440" bIns="45720" rtlCol="0" anchor="t">
            <a:spAutoFit/>
          </a:bodyPr>
          <a:lstStyle/>
          <a:p>
            <a:pPr>
              <a:spcAft>
                <a:spcPts val="600"/>
              </a:spcAft>
            </a:pPr>
            <a:r>
              <a:rPr lang="en-US" b="1" i="1" dirty="0">
                <a:solidFill>
                  <a:schemeClr val="accent1">
                    <a:lumMod val="50000"/>
                  </a:schemeClr>
                </a:solidFill>
              </a:rPr>
              <a:t>Getting </a:t>
            </a:r>
            <a:r>
              <a:rPr lang="en-US" b="1" i="1" dirty="0" smtClean="0">
                <a:solidFill>
                  <a:schemeClr val="accent1">
                    <a:lumMod val="50000"/>
                  </a:schemeClr>
                </a:solidFill>
              </a:rPr>
              <a:t>Started</a:t>
            </a:r>
            <a:r>
              <a:rPr lang="en-US" b="1" i="1" dirty="0">
                <a:solidFill>
                  <a:schemeClr val="accent1">
                    <a:lumMod val="50000"/>
                  </a:schemeClr>
                </a:solidFill>
              </a:rPr>
              <a:t>…</a:t>
            </a:r>
          </a:p>
        </p:txBody>
      </p:sp>
      <p:sp>
        <p:nvSpPr>
          <p:cNvPr id="28" name="Rechteck 27">
            <a:extLst>
              <a:ext uri="{FF2B5EF4-FFF2-40B4-BE49-F238E27FC236}">
                <a16:creationId xmlns:a16="http://schemas.microsoft.com/office/drawing/2014/main" id="{2C31A116-DD83-46C3-9F3A-7D2B6B8E1296}"/>
              </a:ext>
            </a:extLst>
          </p:cNvPr>
          <p:cNvSpPr/>
          <p:nvPr/>
        </p:nvSpPr>
        <p:spPr>
          <a:xfrm>
            <a:off x="3076429" y="4055186"/>
            <a:ext cx="3581946" cy="1708160"/>
          </a:xfrm>
          <a:prstGeom prst="rect">
            <a:avLst/>
          </a:prstGeom>
        </p:spPr>
        <p:txBody>
          <a:bodyPr wrap="square">
            <a:spAutoFit/>
          </a:bodyPr>
          <a:lstStyle/>
          <a:p>
            <a:pPr algn="just"/>
            <a:r>
              <a:rPr lang="en-US" sz="1050" dirty="0"/>
              <a:t>Before starting to create new material, carry out a </a:t>
            </a:r>
            <a:r>
              <a:rPr lang="en-US" sz="1050" b="1" dirty="0"/>
              <a:t>targeted search for suitable resources</a:t>
            </a:r>
            <a:r>
              <a:rPr lang="en-US" sz="1050" dirty="0"/>
              <a:t>. In the area of Open Science and Research Data Management (RDM), there is already a wide range of high-quality reusable materials—from individual graphics to entire courses.</a:t>
            </a:r>
          </a:p>
          <a:p>
            <a:pPr algn="just"/>
            <a:endParaRPr lang="en-US" sz="1050" dirty="0"/>
          </a:p>
          <a:p>
            <a:pPr algn="just"/>
            <a:r>
              <a:rPr lang="en-US" sz="1050" dirty="0"/>
              <a:t>If you </a:t>
            </a:r>
            <a:r>
              <a:rPr lang="en-US" sz="1050" b="1" dirty="0"/>
              <a:t>add to, modify, or shorten an open educational resource</a:t>
            </a:r>
            <a:r>
              <a:rPr lang="en-US" sz="1050" dirty="0"/>
              <a:t>, a </a:t>
            </a:r>
            <a:r>
              <a:rPr lang="en-US" sz="1050" b="1" dirty="0"/>
              <a:t>new license </a:t>
            </a:r>
            <a:r>
              <a:rPr lang="en-US" sz="1050" dirty="0"/>
              <a:t>must be issued. The most common open licenses are </a:t>
            </a:r>
            <a:r>
              <a:rPr lang="en-US" sz="1050" b="1" dirty="0"/>
              <a:t>Creative Commons licenses</a:t>
            </a:r>
            <a:r>
              <a:rPr lang="en-US" sz="1050" dirty="0"/>
              <a:t>, which enable transparent use and further development.</a:t>
            </a:r>
          </a:p>
        </p:txBody>
      </p:sp>
      <p:sp>
        <p:nvSpPr>
          <p:cNvPr id="32" name="Textfeld 31">
            <a:extLst>
              <a:ext uri="{FF2B5EF4-FFF2-40B4-BE49-F238E27FC236}">
                <a16:creationId xmlns:a16="http://schemas.microsoft.com/office/drawing/2014/main" id="{6A5C4F34-FC97-4ED3-991C-1AACEB104F42}"/>
              </a:ext>
            </a:extLst>
          </p:cNvPr>
          <p:cNvSpPr txBox="1"/>
          <p:nvPr/>
        </p:nvSpPr>
        <p:spPr>
          <a:xfrm>
            <a:off x="199625" y="6486346"/>
            <a:ext cx="3952046" cy="2593018"/>
          </a:xfrm>
          <a:prstGeom prst="rect">
            <a:avLst/>
          </a:prstGeom>
          <a:noFill/>
        </p:spPr>
        <p:txBody>
          <a:bodyPr wrap="square" rtlCol="0">
            <a:spAutoFit/>
          </a:bodyPr>
          <a:lstStyle/>
          <a:p>
            <a:pPr marL="171450" indent="-171450" algn="just">
              <a:spcAft>
                <a:spcPts val="600"/>
              </a:spcAft>
              <a:buFont typeface="Wingdings" panose="05000000000000000000" pitchFamily="2" charset="2"/>
              <a:buChar char="q"/>
            </a:pPr>
            <a:r>
              <a:rPr lang="en-US" sz="1050" dirty="0"/>
              <a:t>Make sure that your self-produced OER </a:t>
            </a:r>
            <a:r>
              <a:rPr lang="en-US" sz="1050" b="1" dirty="0"/>
              <a:t>does not contain any third-party content that is protected by copyright</a:t>
            </a:r>
            <a:r>
              <a:rPr lang="en-US" sz="1050" dirty="0"/>
              <a:t>. Classic OER licenses are the </a:t>
            </a:r>
            <a:r>
              <a:rPr lang="en-US" sz="1050" b="1" dirty="0"/>
              <a:t>CC BY and CC BY SA </a:t>
            </a:r>
            <a:r>
              <a:rPr lang="en-US" sz="1050" dirty="0"/>
              <a:t>licenses, which allow you to use and edit the material. Where possible, the CC BY license is recommended for OER, in which the person holding the copyright must be cited.</a:t>
            </a:r>
          </a:p>
          <a:p>
            <a:pPr marL="171450" indent="-171450" algn="just">
              <a:spcAft>
                <a:spcPts val="600"/>
              </a:spcAft>
              <a:buFont typeface="Wingdings" panose="05000000000000000000" pitchFamily="2" charset="2"/>
              <a:buChar char="q"/>
            </a:pPr>
            <a:r>
              <a:rPr lang="en-US" sz="1050" dirty="0"/>
              <a:t>Also, consider how interoperable your materials and formats are.</a:t>
            </a:r>
          </a:p>
          <a:p>
            <a:pPr marL="171450" indent="-171450" algn="just">
              <a:spcAft>
                <a:spcPts val="600"/>
              </a:spcAft>
              <a:buFont typeface="Wingdings" panose="05000000000000000000" pitchFamily="2" charset="2"/>
              <a:buChar char="q"/>
            </a:pPr>
            <a:r>
              <a:rPr lang="en-US" sz="1050" dirty="0"/>
              <a:t>Then select a </a:t>
            </a:r>
            <a:r>
              <a:rPr lang="en-US" sz="1050" b="1" dirty="0"/>
              <a:t>suitable repository </a:t>
            </a:r>
            <a:r>
              <a:rPr lang="en-US" sz="1050" dirty="0"/>
              <a:t>in which to publish your OER. You can choose the institutional repository of your research institution or a public platform.</a:t>
            </a:r>
          </a:p>
          <a:p>
            <a:pPr marL="171450" indent="-171450" algn="just">
              <a:spcAft>
                <a:spcPts val="600"/>
              </a:spcAft>
              <a:buFont typeface="Wingdings" panose="05000000000000000000" pitchFamily="2" charset="2"/>
              <a:buChar char="q"/>
            </a:pPr>
            <a:r>
              <a:rPr lang="en-US" sz="1050" dirty="0"/>
              <a:t>Describe your published material with metadata, e.g.:</a:t>
            </a:r>
          </a:p>
          <a:p>
            <a:pPr marL="177800" algn="just">
              <a:spcAft>
                <a:spcPts val="400"/>
              </a:spcAft>
            </a:pPr>
            <a:r>
              <a:rPr lang="en-US" sz="900" dirty="0"/>
              <a:t>Title, author, license, format of the resource, didactic information such as target group, possibly larger framework such as further education program in which your OER is located</a:t>
            </a:r>
            <a:endParaRPr lang="en-US" sz="1100" dirty="0"/>
          </a:p>
        </p:txBody>
      </p:sp>
      <p:sp>
        <p:nvSpPr>
          <p:cNvPr id="35" name="Textfeld 34">
            <a:extLst>
              <a:ext uri="{FF2B5EF4-FFF2-40B4-BE49-F238E27FC236}">
                <a16:creationId xmlns:a16="http://schemas.microsoft.com/office/drawing/2014/main" id="{E3E00FBB-704B-4995-B550-E24B7349A35E}"/>
              </a:ext>
            </a:extLst>
          </p:cNvPr>
          <p:cNvSpPr txBox="1"/>
          <p:nvPr/>
        </p:nvSpPr>
        <p:spPr>
          <a:xfrm>
            <a:off x="323850" y="9744288"/>
            <a:ext cx="6534150" cy="200055"/>
          </a:xfrm>
          <a:prstGeom prst="rect">
            <a:avLst/>
          </a:prstGeom>
          <a:noFill/>
        </p:spPr>
        <p:txBody>
          <a:bodyPr wrap="square" rtlCol="0">
            <a:spAutoFit/>
          </a:bodyPr>
          <a:lstStyle/>
          <a:p>
            <a:r>
              <a:rPr lang="en-US" sz="700"/>
              <a:t>Adapted from: Leitfaden für die Erstellung von Open Educational Resources, Claudia Zimmermann, Kristina Neuböck, Michael Kopp, </a:t>
            </a:r>
            <a:r>
              <a:rPr lang="en-US" sz="700">
                <a:hlinkClick r:id="rId12"/>
              </a:rPr>
              <a:t>CC BY 4.0</a:t>
            </a:r>
            <a:r>
              <a:rPr lang="en-US" sz="700"/>
              <a:t>, </a:t>
            </a:r>
            <a:r>
              <a:rPr lang="en-US" sz="700">
                <a:hlinkClick r:id="rId13"/>
              </a:rPr>
              <a:t>Open Education Austria</a:t>
            </a:r>
            <a:r>
              <a:rPr lang="en-US" sz="700"/>
              <a:t>.</a:t>
            </a:r>
          </a:p>
        </p:txBody>
      </p:sp>
      <p:sp>
        <p:nvSpPr>
          <p:cNvPr id="38" name="Textfeld 37">
            <a:extLst>
              <a:ext uri="{FF2B5EF4-FFF2-40B4-BE49-F238E27FC236}">
                <a16:creationId xmlns:a16="http://schemas.microsoft.com/office/drawing/2014/main" id="{14344A71-4B2B-480F-9413-3D632CFB5984}"/>
              </a:ext>
            </a:extLst>
          </p:cNvPr>
          <p:cNvSpPr txBox="1"/>
          <p:nvPr/>
        </p:nvSpPr>
        <p:spPr>
          <a:xfrm>
            <a:off x="217884" y="6126973"/>
            <a:ext cx="3933788" cy="369332"/>
          </a:xfrm>
          <a:prstGeom prst="rect">
            <a:avLst/>
          </a:prstGeom>
          <a:noFill/>
        </p:spPr>
        <p:txBody>
          <a:bodyPr wrap="square" rtlCol="0">
            <a:spAutoFit/>
          </a:bodyPr>
          <a:lstStyle/>
          <a:p>
            <a:pPr>
              <a:spcAft>
                <a:spcPts val="600"/>
              </a:spcAft>
            </a:pPr>
            <a:r>
              <a:rPr lang="en-US" b="1" i="1">
                <a:solidFill>
                  <a:schemeClr val="accent1">
                    <a:lumMod val="50000"/>
                  </a:schemeClr>
                </a:solidFill>
              </a:rPr>
              <a:t>Publication of OER</a:t>
            </a:r>
            <a:endParaRPr lang="en-US" b="1">
              <a:solidFill>
                <a:schemeClr val="accent1">
                  <a:lumMod val="50000"/>
                </a:schemeClr>
              </a:solidFill>
            </a:endParaRPr>
          </a:p>
        </p:txBody>
      </p:sp>
      <p:grpSp>
        <p:nvGrpSpPr>
          <p:cNvPr id="7" name="Gruppieren 6">
            <a:extLst>
              <a:ext uri="{FF2B5EF4-FFF2-40B4-BE49-F238E27FC236}">
                <a16:creationId xmlns:a16="http://schemas.microsoft.com/office/drawing/2014/main" id="{ED6C9A69-ECA1-4115-804C-E8D1043AD3EB}"/>
              </a:ext>
            </a:extLst>
          </p:cNvPr>
          <p:cNvGrpSpPr/>
          <p:nvPr/>
        </p:nvGrpSpPr>
        <p:grpSpPr>
          <a:xfrm>
            <a:off x="231500" y="3151227"/>
            <a:ext cx="6316805" cy="513219"/>
            <a:chOff x="231500" y="2932152"/>
            <a:chExt cx="6316805" cy="513219"/>
          </a:xfrm>
        </p:grpSpPr>
        <p:sp>
          <p:nvSpPr>
            <p:cNvPr id="41" name="Rechteck 40">
              <a:extLst>
                <a:ext uri="{FF2B5EF4-FFF2-40B4-BE49-F238E27FC236}">
                  <a16:creationId xmlns:a16="http://schemas.microsoft.com/office/drawing/2014/main" id="{67AE5D72-C9EE-4410-ABD2-8378C3A5425F}"/>
                </a:ext>
              </a:extLst>
            </p:cNvPr>
            <p:cNvSpPr/>
            <p:nvPr/>
          </p:nvSpPr>
          <p:spPr>
            <a:xfrm>
              <a:off x="323850" y="2951142"/>
              <a:ext cx="6224455" cy="494229"/>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feld 38">
              <a:extLst>
                <a:ext uri="{FF2B5EF4-FFF2-40B4-BE49-F238E27FC236}">
                  <a16:creationId xmlns:a16="http://schemas.microsoft.com/office/drawing/2014/main" id="{F95E9513-D46F-43CF-B5EC-9F0CF4BA07C2}"/>
                </a:ext>
              </a:extLst>
            </p:cNvPr>
            <p:cNvSpPr txBox="1"/>
            <p:nvPr/>
          </p:nvSpPr>
          <p:spPr>
            <a:xfrm>
              <a:off x="231500" y="2932152"/>
              <a:ext cx="6217916" cy="507831"/>
            </a:xfrm>
            <a:prstGeom prst="rect">
              <a:avLst/>
            </a:prstGeom>
            <a:noFill/>
          </p:spPr>
          <p:txBody>
            <a:bodyPr wrap="square" rtlCol="0">
              <a:spAutoFit/>
            </a:bodyPr>
            <a:lstStyle/>
            <a:p>
              <a:pPr marL="349250" indent="-171450">
                <a:buFont typeface="Wingdings" panose="05000000000000000000" pitchFamily="2" charset="2"/>
                <a:buChar char="q"/>
              </a:pPr>
              <a:r>
                <a:rPr lang="en-US" sz="900" dirty="0"/>
                <a:t>Which </a:t>
              </a:r>
              <a:r>
                <a:rPr lang="en-US" sz="900" b="1" dirty="0"/>
                <a:t>target group </a:t>
              </a:r>
              <a:r>
                <a:rPr lang="en-US" sz="900" dirty="0"/>
                <a:t>do you want to reach out to?</a:t>
              </a:r>
            </a:p>
            <a:p>
              <a:pPr marL="357188" lvl="1" indent="-171450">
                <a:buFont typeface="Wingdings" panose="05000000000000000000" pitchFamily="2" charset="2"/>
                <a:buChar char="q"/>
              </a:pPr>
              <a:r>
                <a:rPr lang="en-US" sz="900" dirty="0"/>
                <a:t>What </a:t>
              </a:r>
              <a:r>
                <a:rPr lang="en-US" sz="900" b="1" dirty="0"/>
                <a:t>(learning) goals </a:t>
              </a:r>
              <a:r>
                <a:rPr lang="en-US" sz="900" dirty="0"/>
                <a:t>do you want your learners to achieve?</a:t>
              </a:r>
            </a:p>
            <a:p>
              <a:pPr marL="357188" lvl="1" indent="-171450">
                <a:spcAft>
                  <a:spcPts val="400"/>
                </a:spcAft>
                <a:buFont typeface="Wingdings" panose="05000000000000000000" pitchFamily="2" charset="2"/>
                <a:buChar char="q"/>
              </a:pPr>
              <a:r>
                <a:rPr lang="en-US" sz="900" dirty="0"/>
                <a:t>What </a:t>
              </a:r>
              <a:r>
                <a:rPr lang="en-US" sz="900" b="1" dirty="0"/>
                <a:t>content</a:t>
              </a:r>
              <a:r>
                <a:rPr lang="en-US" sz="900" dirty="0"/>
                <a:t> is necessary to achieve the objectives? Which key topics need to be conveyed?</a:t>
              </a:r>
            </a:p>
          </p:txBody>
        </p:sp>
      </p:grpSp>
      <p:grpSp>
        <p:nvGrpSpPr>
          <p:cNvPr id="4" name="Gruppieren 3">
            <a:extLst>
              <a:ext uri="{FF2B5EF4-FFF2-40B4-BE49-F238E27FC236}">
                <a16:creationId xmlns:a16="http://schemas.microsoft.com/office/drawing/2014/main" id="{E714BAA1-C764-441E-97F3-B0235521F1FB}"/>
              </a:ext>
            </a:extLst>
          </p:cNvPr>
          <p:cNvGrpSpPr/>
          <p:nvPr/>
        </p:nvGrpSpPr>
        <p:grpSpPr>
          <a:xfrm>
            <a:off x="4268737" y="8204373"/>
            <a:ext cx="2302175" cy="1102648"/>
            <a:chOff x="4268737" y="8204373"/>
            <a:chExt cx="2302175" cy="1102648"/>
          </a:xfrm>
        </p:grpSpPr>
        <p:sp>
          <p:nvSpPr>
            <p:cNvPr id="54" name="Rechteck 53">
              <a:extLst>
                <a:ext uri="{FF2B5EF4-FFF2-40B4-BE49-F238E27FC236}">
                  <a16:creationId xmlns:a16="http://schemas.microsoft.com/office/drawing/2014/main" id="{67F5D9E4-90B7-45C8-A852-81F02DBD285C}"/>
                </a:ext>
              </a:extLst>
            </p:cNvPr>
            <p:cNvSpPr/>
            <p:nvPr/>
          </p:nvSpPr>
          <p:spPr>
            <a:xfrm>
              <a:off x="4268737" y="8204373"/>
              <a:ext cx="2279568" cy="107988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feld 33">
              <a:extLst>
                <a:ext uri="{FF2B5EF4-FFF2-40B4-BE49-F238E27FC236}">
                  <a16:creationId xmlns:a16="http://schemas.microsoft.com/office/drawing/2014/main" id="{6650645F-FAF8-4A32-B8AD-57483F00415A}"/>
                </a:ext>
              </a:extLst>
            </p:cNvPr>
            <p:cNvSpPr txBox="1"/>
            <p:nvPr/>
          </p:nvSpPr>
          <p:spPr>
            <a:xfrm>
              <a:off x="4268737" y="8383691"/>
              <a:ext cx="2302175" cy="923330"/>
            </a:xfrm>
            <a:prstGeom prst="rect">
              <a:avLst/>
            </a:prstGeom>
            <a:noFill/>
          </p:spPr>
          <p:txBody>
            <a:bodyPr wrap="square" rtlCol="0">
              <a:spAutoFit/>
            </a:bodyPr>
            <a:lstStyle/>
            <a:p>
              <a:r>
                <a:rPr lang="en-US" sz="900" dirty="0"/>
                <a:t>Hackl, Claudia, Hörner, Tanja, Kalová, Tereza, Slowig, Benjamin. (</a:t>
              </a:r>
              <a:r>
                <a:rPr lang="en-US" sz="900" dirty="0" smtClean="0"/>
                <a:t>2024). </a:t>
              </a:r>
              <a:r>
                <a:rPr lang="en-US" sz="900" dirty="0"/>
                <a:t>Handout: Open Educational Resources (OER) in the spirit of Open Science and a FAIR data culture (Version 1, </a:t>
              </a:r>
              <a:r>
                <a:rPr lang="en-US" sz="900" dirty="0" err="1"/>
                <a:t>eng</a:t>
              </a:r>
              <a:r>
                <a:rPr lang="en-US" sz="900" dirty="0"/>
                <a:t>). </a:t>
              </a:r>
              <a:r>
                <a:rPr lang="en-US" sz="900" dirty="0" err="1"/>
                <a:t>Zenodo</a:t>
              </a:r>
              <a:r>
                <a:rPr lang="en-US" sz="900" dirty="0"/>
                <a:t>. </a:t>
              </a:r>
              <a:r>
                <a:rPr lang="en-US" sz="900" dirty="0">
                  <a:hlinkClick r:id="rId14"/>
                </a:rPr>
                <a:t>https</a:t>
              </a:r>
              <a:r>
                <a:rPr lang="en-US" sz="900" dirty="0" smtClean="0">
                  <a:hlinkClick r:id="rId14"/>
                </a:rPr>
                <a:t>://</a:t>
              </a:r>
              <a:r>
                <a:rPr lang="en-US" sz="900" dirty="0" smtClean="0">
                  <a:hlinkClick r:id="rId15"/>
                </a:rPr>
                <a:t>doi.org/10.5281/zenodo.10730502</a:t>
              </a:r>
              <a:endParaRPr lang="en-US" sz="900" dirty="0"/>
            </a:p>
          </p:txBody>
        </p:sp>
      </p:grpSp>
      <p:pic>
        <p:nvPicPr>
          <p:cNvPr id="37" name="Grafik 36">
            <a:extLst>
              <a:ext uri="{FF2B5EF4-FFF2-40B4-BE49-F238E27FC236}">
                <a16:creationId xmlns:a16="http://schemas.microsoft.com/office/drawing/2014/main" id="{E4F3BF22-7FA4-4BE6-A9F3-6635D0BF445B}"/>
              </a:ext>
            </a:extLst>
          </p:cNvPr>
          <p:cNvPicPr>
            <a:picLocks noChangeAspect="1"/>
          </p:cNvPicPr>
          <p:nvPr/>
        </p:nvPicPr>
        <p:blipFill>
          <a:blip r:embed="rId16" cstate="hqprint">
            <a:extLst>
              <a:ext uri="{28A0092B-C50C-407E-A947-70E740481C1C}">
                <a14:useLocalDpi xmlns:a14="http://schemas.microsoft.com/office/drawing/2010/main" val="0"/>
              </a:ext>
            </a:extLst>
          </a:blip>
          <a:stretch>
            <a:fillRect/>
          </a:stretch>
        </p:blipFill>
        <p:spPr>
          <a:xfrm>
            <a:off x="317043" y="9335486"/>
            <a:ext cx="1150430" cy="575216"/>
          </a:xfrm>
          <a:prstGeom prst="rect">
            <a:avLst/>
          </a:prstGeom>
        </p:spPr>
      </p:pic>
      <p:pic>
        <p:nvPicPr>
          <p:cNvPr id="42" name="Grafik 41">
            <a:extLst>
              <a:ext uri="{FF2B5EF4-FFF2-40B4-BE49-F238E27FC236}">
                <a16:creationId xmlns:a16="http://schemas.microsoft.com/office/drawing/2014/main" id="{37973B7C-B386-43AB-981B-C603AFDE547B}"/>
              </a:ext>
            </a:extLst>
          </p:cNvPr>
          <p:cNvPicPr>
            <a:picLocks noChangeAspect="1"/>
          </p:cNvPicPr>
          <p:nvPr/>
        </p:nvPicPr>
        <p:blipFill>
          <a:blip r:embed="rId17" cstate="hqprint">
            <a:extLst>
              <a:ext uri="{28A0092B-C50C-407E-A947-70E740481C1C}">
                <a14:useLocalDpi xmlns:a14="http://schemas.microsoft.com/office/drawing/2010/main" val="0"/>
              </a:ext>
            </a:extLst>
          </a:blip>
          <a:stretch>
            <a:fillRect/>
          </a:stretch>
        </p:blipFill>
        <p:spPr>
          <a:xfrm>
            <a:off x="3784952" y="9454813"/>
            <a:ext cx="1530869" cy="309236"/>
          </a:xfrm>
          <a:prstGeom prst="rect">
            <a:avLst/>
          </a:prstGeom>
        </p:spPr>
      </p:pic>
      <p:pic>
        <p:nvPicPr>
          <p:cNvPr id="44" name="Grafik 43">
            <a:extLst>
              <a:ext uri="{FF2B5EF4-FFF2-40B4-BE49-F238E27FC236}">
                <a16:creationId xmlns:a16="http://schemas.microsoft.com/office/drawing/2014/main" id="{BDF60526-1061-451C-BB56-78A903725C95}"/>
              </a:ext>
            </a:extLst>
          </p:cNvPr>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2142500" y="9501350"/>
            <a:ext cx="1049217" cy="224938"/>
          </a:xfrm>
          <a:prstGeom prst="rect">
            <a:avLst/>
          </a:prstGeom>
        </p:spPr>
      </p:pic>
      <p:sp>
        <p:nvSpPr>
          <p:cNvPr id="2" name="Rechteck 1">
            <a:extLst>
              <a:ext uri="{FF2B5EF4-FFF2-40B4-BE49-F238E27FC236}">
                <a16:creationId xmlns:a16="http://schemas.microsoft.com/office/drawing/2014/main" id="{C46195AD-1F5E-42E6-AF08-F697E10AD031}"/>
              </a:ext>
            </a:extLst>
          </p:cNvPr>
          <p:cNvSpPr/>
          <p:nvPr/>
        </p:nvSpPr>
        <p:spPr>
          <a:xfrm>
            <a:off x="4246129" y="8198611"/>
            <a:ext cx="1114408" cy="230832"/>
          </a:xfrm>
          <a:prstGeom prst="rect">
            <a:avLst/>
          </a:prstGeom>
        </p:spPr>
        <p:txBody>
          <a:bodyPr wrap="none">
            <a:spAutoFit/>
          </a:bodyPr>
          <a:lstStyle/>
          <a:p>
            <a:r>
              <a:rPr lang="en-US" sz="900" b="1" dirty="0"/>
              <a:t>Suggested </a:t>
            </a:r>
            <a:r>
              <a:rPr lang="en-US" sz="900" b="1" dirty="0" smtClean="0"/>
              <a:t>Citation</a:t>
            </a:r>
            <a:r>
              <a:rPr lang="en-US" sz="900" b="1" dirty="0"/>
              <a:t>:</a:t>
            </a:r>
            <a:endParaRPr lang="en-US" sz="900" dirty="0"/>
          </a:p>
        </p:txBody>
      </p:sp>
    </p:spTree>
    <p:extLst>
      <p:ext uri="{BB962C8B-B14F-4D97-AF65-F5344CB8AC3E}">
        <p14:creationId xmlns:p14="http://schemas.microsoft.com/office/powerpoint/2010/main" val="155441253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709</Words>
  <Application>Microsoft Office PowerPoint</Application>
  <PresentationFormat>A4-Papier (210 x 297 mm)</PresentationFormat>
  <Paragraphs>35</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Calibri</vt:lpstr>
      <vt:lpstr>Calibri Light</vt:lpstr>
      <vt:lpstr>Wingdings</vt:lpstr>
      <vt:lpstr>Arial</vt:lpstr>
      <vt:lpstr>Office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Tanja Hörner ( U Bremen Research Alliance)</dc:creator>
  <cp:lastModifiedBy>KALOVA, Tereza</cp:lastModifiedBy>
  <cp:revision>94</cp:revision>
  <dcterms:created xsi:type="dcterms:W3CDTF">2022-07-07T08:19:29Z</dcterms:created>
  <dcterms:modified xsi:type="dcterms:W3CDTF">2024-03-27T08:33:45Z</dcterms:modified>
</cp:coreProperties>
</file>